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8"/>
    <p:restoredTop sz="94556"/>
  </p:normalViewPr>
  <p:slideViewPr>
    <p:cSldViewPr snapToGrid="0">
      <p:cViewPr varScale="1">
        <p:scale>
          <a:sx n="114" d="100"/>
          <a:sy n="114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845C-F2A8-5FFA-87BE-B27783249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DF474-F981-B3C1-ABD5-4D0AD4657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3EDBE-A216-BE48-551A-E506700E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F2AB-B201-090A-DE23-CDE45ED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B9467-90DB-2833-2BF3-CB18116D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19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053D-6F40-811B-0E3F-61E188F7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AA55-AED4-741F-093F-35A2BEC49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FE69C-1224-D0DC-DCFA-A9965239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33DB1-8C92-1928-6223-81594102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FCA55-F779-B614-F6B2-1949FBC3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34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CC24-EE94-ACBC-488D-F59F432E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D1040-2333-970A-B8C1-2CCEE3D2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37238-ABDF-0A17-D010-86E91518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688FB-F9A8-7732-DC9B-6108BB91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490D3-E067-EF0F-8857-0B0CDF8D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07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050F-4734-B79B-B5DC-4E6E4B55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1AB5-EA69-8CE0-CB0A-090E947F3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9669C-EF51-976F-AB92-B8E40E0A3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8AE28-96FA-58F5-20A0-35F42D69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9944-0853-EFC6-9DE8-17020D6E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2FE52-4E6A-93AE-F65F-FD28D5C4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13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1807-2CE5-95D8-330F-BA2814F3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47E95-827D-47DD-ED2C-5839B6934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DBDD3-0852-59D9-8F95-23E2EA75D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18BB5-1498-0839-F05B-96E8343F1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CEA2C-4744-A7BB-B459-04AB8931F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09A56-2640-4714-1213-1571FAF2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04B71-EC2D-D8B4-9468-2DAED457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5FEC6-33C3-1A26-4621-E405CF94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60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5962-F42B-D43B-6BE8-CFE4B7BD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44659-E6AC-B472-57CA-86654A71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3795B-D507-0915-4561-ED6452A9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3F540-6C2B-110B-5338-FE565306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6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85BE8-05B8-8EB3-56F5-B851AC40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01CDF-FF27-F2A1-C34B-4D1C03A4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0740-8739-AACE-0C76-F8DABF06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84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725A-600E-7A7A-75AB-6FD88FD7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8B6B-BAD7-C095-1D30-2DA2587DA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F4B18-3C15-FC26-34BA-C4AA76FB9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652A8-1974-0C45-F591-2926BC70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E657-F270-8E81-D7C8-07336E98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5974D-475A-842C-E3B2-3FCD7209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5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AE10-825D-A55F-D578-2FD4A174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CBC6B-5786-6E68-DDEB-0B2F9D15A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A5859-600B-C9FD-FCAF-50759FF9E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D4770-EF2A-ACF3-6EC5-B83D5D8A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65EE1-66C5-C913-4E88-35DB67B6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C5C95-589C-CD13-F1CA-E84957AA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34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2EA9-4B24-ACD3-B3F8-B80194C1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D41A-6464-FC9A-2001-E7FAD902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23F58-80B1-B009-DB10-FC4511D6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F2D17-1511-851D-72CF-2FC1A27A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D916-8E97-FD3D-391F-524E01BD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7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FF99C-DE14-51D2-7933-B9C27DE2A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01C9E-FEA7-6EA5-8BAD-5282756AF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B91A1-2F97-0771-51F0-D84DD973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40B94-8AE7-AA4D-AFDC-75AD647F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8C3CC-F441-6C03-C02A-92803852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0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9C4F5-203D-7EF6-74DC-DF16CFD1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471D7-0FA6-9666-3193-B6CB36BF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E660-576E-F13F-5ECF-EAE7DF0E3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AC03F-F563-994B-B6C3-A776BF91E107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A1E18-3DAF-D68E-43BA-D23E849E2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5742B-AFE4-623D-3CA9-D7E648796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CD49A-66A7-1743-8D8E-47FEF76EE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09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BADD1B-AD37-D15F-B7AE-15ED1E6BE507}"/>
              </a:ext>
            </a:extLst>
          </p:cNvPr>
          <p:cNvCxnSpPr>
            <a:stCxn id="14" idx="3"/>
            <a:endCxn id="6" idx="0"/>
          </p:cNvCxnSpPr>
          <p:nvPr/>
        </p:nvCxnSpPr>
        <p:spPr>
          <a:xfrm flipV="1">
            <a:off x="2900075" y="3678930"/>
            <a:ext cx="4421751" cy="494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2EEF0E1-1606-0C69-001C-46DE1E0BD931}"/>
              </a:ext>
            </a:extLst>
          </p:cNvPr>
          <p:cNvCxnSpPr>
            <a:stCxn id="13" idx="3"/>
            <a:endCxn id="6" idx="0"/>
          </p:cNvCxnSpPr>
          <p:nvPr/>
        </p:nvCxnSpPr>
        <p:spPr>
          <a:xfrm>
            <a:off x="2900075" y="3008198"/>
            <a:ext cx="4421751" cy="670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2B410A-01A9-C6C5-6C38-F4CB5D9689FC}"/>
              </a:ext>
            </a:extLst>
          </p:cNvPr>
          <p:cNvCxnSpPr>
            <a:stCxn id="12" idx="3"/>
            <a:endCxn id="6" idx="0"/>
          </p:cNvCxnSpPr>
          <p:nvPr/>
        </p:nvCxnSpPr>
        <p:spPr>
          <a:xfrm>
            <a:off x="2900074" y="1935397"/>
            <a:ext cx="4421752" cy="1743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5FA24D-3215-81E7-D105-3DCE74F2446F}"/>
              </a:ext>
            </a:extLst>
          </p:cNvPr>
          <p:cNvSpPr txBox="1"/>
          <p:nvPr/>
        </p:nvSpPr>
        <p:spPr>
          <a:xfrm>
            <a:off x="3211615" y="4603064"/>
            <a:ext cx="2451652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400" dirty="0"/>
          </a:p>
          <a:p>
            <a:pPr algn="ctr"/>
            <a:r>
              <a:rPr lang="en-GB" sz="1400" dirty="0"/>
              <a:t>1.main_exponential_model</a:t>
            </a:r>
          </a:p>
          <a:p>
            <a:pPr algn="ctr"/>
            <a:endParaRPr lang="en-GB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C04E6-905B-ECF9-9AC9-89B18EBADD1C}"/>
              </a:ext>
            </a:extLst>
          </p:cNvPr>
          <p:cNvSpPr txBox="1"/>
          <p:nvPr/>
        </p:nvSpPr>
        <p:spPr>
          <a:xfrm>
            <a:off x="132523" y="344557"/>
            <a:ext cx="4584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Running the exponential model of </a:t>
            </a:r>
            <a:r>
              <a:rPr lang="en-GB" i="1" dirty="0" err="1"/>
              <a:t>serosolver</a:t>
            </a:r>
            <a:endParaRPr lang="en-GB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6A4A4-852D-2F29-F192-446996A0BEAB}"/>
              </a:ext>
            </a:extLst>
          </p:cNvPr>
          <p:cNvSpPr txBox="1"/>
          <p:nvPr/>
        </p:nvSpPr>
        <p:spPr>
          <a:xfrm>
            <a:off x="6096000" y="3678930"/>
            <a:ext cx="2451652" cy="11695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400" dirty="0"/>
          </a:p>
          <a:p>
            <a:pPr algn="ctr"/>
            <a:r>
              <a:rPr lang="en-GB" sz="1400" dirty="0"/>
              <a:t>code/</a:t>
            </a:r>
            <a:r>
              <a:rPr lang="en-GB" sz="1400" dirty="0" err="1"/>
              <a:t>main_exponential</a:t>
            </a:r>
            <a:r>
              <a:rPr lang="en-GB" sz="1400" dirty="0"/>
              <a:t>_</a:t>
            </a:r>
          </a:p>
          <a:p>
            <a:pPr algn="ctr"/>
            <a:r>
              <a:rPr lang="en-GB" sz="1400" dirty="0" err="1"/>
              <a:t>model_aux</a:t>
            </a:r>
            <a:endParaRPr lang="en-GB" sz="1400" dirty="0"/>
          </a:p>
          <a:p>
            <a:pPr algn="ctr"/>
            <a:r>
              <a:rPr lang="en-GB" sz="1400" i="1" dirty="0"/>
              <a:t>Runs the model</a:t>
            </a:r>
          </a:p>
          <a:p>
            <a:pPr algn="ctr"/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75964-9CE3-1596-FB67-541717F7E586}"/>
              </a:ext>
            </a:extLst>
          </p:cNvPr>
          <p:cNvSpPr txBox="1"/>
          <p:nvPr/>
        </p:nvSpPr>
        <p:spPr>
          <a:xfrm>
            <a:off x="6096000" y="5114966"/>
            <a:ext cx="2451652" cy="11695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400" dirty="0"/>
          </a:p>
          <a:p>
            <a:pPr algn="ctr"/>
            <a:r>
              <a:rPr lang="en-GB" sz="1400" dirty="0"/>
              <a:t>code/</a:t>
            </a:r>
            <a:r>
              <a:rPr lang="en-GB" sz="1400" dirty="0" err="1"/>
              <a:t>generate_tables</a:t>
            </a:r>
            <a:r>
              <a:rPr lang="en-GB" sz="1400" dirty="0"/>
              <a:t>_</a:t>
            </a:r>
          </a:p>
          <a:p>
            <a:pPr algn="ctr"/>
            <a:r>
              <a:rPr lang="en-GB" sz="1400" dirty="0"/>
              <a:t>exponential</a:t>
            </a:r>
          </a:p>
          <a:p>
            <a:pPr algn="ctr"/>
            <a:r>
              <a:rPr lang="en-GB" sz="1400" i="1" dirty="0"/>
              <a:t>Generates tables in paper</a:t>
            </a:r>
          </a:p>
          <a:p>
            <a:pPr algn="ctr"/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381F54-2752-984C-BD75-3C4DFB3E1EC3}"/>
              </a:ext>
            </a:extLst>
          </p:cNvPr>
          <p:cNvSpPr txBox="1"/>
          <p:nvPr/>
        </p:nvSpPr>
        <p:spPr>
          <a:xfrm>
            <a:off x="251278" y="99093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2D190-A87F-2B7F-4DA4-2167FFF18F36}"/>
              </a:ext>
            </a:extLst>
          </p:cNvPr>
          <p:cNvSpPr txBox="1"/>
          <p:nvPr/>
        </p:nvSpPr>
        <p:spPr>
          <a:xfrm>
            <a:off x="6049503" y="1008948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8275DC-FC92-EEAF-FD89-BBDF3D31D425}"/>
              </a:ext>
            </a:extLst>
          </p:cNvPr>
          <p:cNvSpPr txBox="1"/>
          <p:nvPr/>
        </p:nvSpPr>
        <p:spPr>
          <a:xfrm>
            <a:off x="3935896" y="1566065"/>
            <a:ext cx="2113607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code/</a:t>
            </a:r>
            <a:r>
              <a:rPr lang="en-GB" sz="1400" dirty="0" err="1"/>
              <a:t>simulate_priors</a:t>
            </a:r>
            <a:endParaRPr lang="en-GB" sz="1400" dirty="0"/>
          </a:p>
          <a:p>
            <a:pPr algn="ctr"/>
            <a:r>
              <a:rPr lang="en-GB" sz="1400" i="1" dirty="0"/>
              <a:t>Generates priors from distributions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50ED9-866D-CE47-1AC6-3C1A543AD985}"/>
              </a:ext>
            </a:extLst>
          </p:cNvPr>
          <p:cNvSpPr txBox="1"/>
          <p:nvPr/>
        </p:nvSpPr>
        <p:spPr>
          <a:xfrm>
            <a:off x="3922128" y="2452063"/>
            <a:ext cx="2127375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input/</a:t>
            </a:r>
            <a:r>
              <a:rPr lang="en-GB" sz="1400" dirty="0" err="1"/>
              <a:t>serosolver</a:t>
            </a:r>
            <a:r>
              <a:rPr lang="en-GB" sz="1400" dirty="0"/>
              <a:t>_</a:t>
            </a:r>
          </a:p>
          <a:p>
            <a:pPr algn="ctr"/>
            <a:r>
              <a:rPr lang="en-GB" sz="1400" dirty="0" err="1"/>
              <a:t>norovirus_input</a:t>
            </a:r>
            <a:endParaRPr lang="en-GB" sz="1400" dirty="0"/>
          </a:p>
          <a:p>
            <a:pPr algn="ctr"/>
            <a:r>
              <a:rPr lang="en-GB" sz="1200" i="1" dirty="0"/>
              <a:t>Specifies cartography data, serology data and output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86108-8010-A79E-A224-3F51D738BD67}"/>
              </a:ext>
            </a:extLst>
          </p:cNvPr>
          <p:cNvSpPr txBox="1"/>
          <p:nvPr/>
        </p:nvSpPr>
        <p:spPr>
          <a:xfrm>
            <a:off x="322528" y="1489121"/>
            <a:ext cx="2577546" cy="89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data/</a:t>
            </a:r>
            <a:r>
              <a:rPr lang="en-GB" sz="1400" dirty="0" err="1"/>
              <a:t>titre_dat_norovirus_age_avidity.csv</a:t>
            </a:r>
            <a:endParaRPr lang="en-GB" sz="1400" dirty="0"/>
          </a:p>
          <a:p>
            <a:pPr algn="ctr"/>
            <a:r>
              <a:rPr lang="en-GB" sz="1200" i="1" dirty="0"/>
              <a:t>Norovirus serology data using </a:t>
            </a:r>
            <a:r>
              <a:rPr lang="en-GB" sz="1200" i="1" dirty="0" err="1"/>
              <a:t>serosolver</a:t>
            </a:r>
            <a:r>
              <a:rPr lang="en-GB" sz="1200" i="1" dirty="0"/>
              <a:t> input requirements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CAED4-F252-A903-1C28-E4499A359D28}"/>
              </a:ext>
            </a:extLst>
          </p:cNvPr>
          <p:cNvSpPr txBox="1"/>
          <p:nvPr/>
        </p:nvSpPr>
        <p:spPr>
          <a:xfrm>
            <a:off x="322528" y="2577311"/>
            <a:ext cx="2577547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data/</a:t>
            </a:r>
            <a:r>
              <a:rPr lang="en-GB" sz="1400" dirty="0" err="1"/>
              <a:t>antigenic_map_hand.csv</a:t>
            </a:r>
            <a:endParaRPr lang="en-GB" sz="1400" dirty="0"/>
          </a:p>
          <a:p>
            <a:pPr algn="ctr"/>
            <a:r>
              <a:rPr lang="en-GB" sz="1200" i="1" dirty="0"/>
              <a:t>Antigenic map of Debbink from </a:t>
            </a:r>
            <a:r>
              <a:rPr lang="en-GB" sz="1200" i="1" dirty="0" err="1"/>
              <a:t>ACMacs</a:t>
            </a:r>
            <a:r>
              <a:rPr lang="en-GB" sz="1200" i="1" dirty="0"/>
              <a:t> with additional (intervening) years added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8B8A01-3556-E455-5733-8F57E6A13080}"/>
              </a:ext>
            </a:extLst>
          </p:cNvPr>
          <p:cNvSpPr txBox="1"/>
          <p:nvPr/>
        </p:nvSpPr>
        <p:spPr>
          <a:xfrm>
            <a:off x="322528" y="3634723"/>
            <a:ext cx="2577547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data/</a:t>
            </a:r>
            <a:r>
              <a:rPr lang="en-GB" sz="1400" dirty="0" err="1"/>
              <a:t>antigenic_map_kendra</a:t>
            </a:r>
            <a:r>
              <a:rPr lang="en-GB" sz="1400" dirty="0"/>
              <a:t>_</a:t>
            </a:r>
          </a:p>
          <a:p>
            <a:pPr algn="ctr"/>
            <a:r>
              <a:rPr lang="en-GB" sz="1400" dirty="0" err="1"/>
              <a:t>edit.csv</a:t>
            </a:r>
            <a:endParaRPr lang="en-GB" sz="1400" dirty="0"/>
          </a:p>
          <a:p>
            <a:pPr algn="ctr"/>
            <a:r>
              <a:rPr lang="en-GB" sz="1200" i="1" dirty="0"/>
              <a:t>Antigenic map of Kendra from </a:t>
            </a:r>
            <a:r>
              <a:rPr lang="en-GB" sz="1200" i="1" dirty="0" err="1"/>
              <a:t>ACMacs</a:t>
            </a:r>
            <a:r>
              <a:rPr lang="en-GB" sz="1200" i="1" dirty="0"/>
              <a:t> with additional (intervening) years added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B905A6-94D4-AB31-7B93-67BCB2AFBB86}"/>
              </a:ext>
            </a:extLst>
          </p:cNvPr>
          <p:cNvSpPr txBox="1"/>
          <p:nvPr/>
        </p:nvSpPr>
        <p:spPr>
          <a:xfrm>
            <a:off x="8951327" y="1782970"/>
            <a:ext cx="2451652" cy="11695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400" dirty="0"/>
          </a:p>
          <a:p>
            <a:pPr algn="ctr"/>
            <a:r>
              <a:rPr lang="en-GB" sz="1400" dirty="0" err="1"/>
              <a:t>out_res.rda</a:t>
            </a:r>
            <a:endParaRPr lang="en-GB" sz="1400" dirty="0"/>
          </a:p>
          <a:p>
            <a:pPr algn="ctr"/>
            <a:r>
              <a:rPr lang="en-GB" sz="1400" i="1" dirty="0"/>
              <a:t>Saved file including infection histories and </a:t>
            </a:r>
            <a:r>
              <a:rPr lang="en-GB" sz="1400" i="1" dirty="0" err="1"/>
              <a:t>mcmc</a:t>
            </a:r>
            <a:r>
              <a:rPr lang="en-GB" sz="1400" i="1" dirty="0"/>
              <a:t> output </a:t>
            </a:r>
          </a:p>
          <a:p>
            <a:pPr algn="ctr"/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9A34BE-4831-F68D-5FB1-6B414067DCFD}"/>
              </a:ext>
            </a:extLst>
          </p:cNvPr>
          <p:cNvSpPr txBox="1"/>
          <p:nvPr/>
        </p:nvSpPr>
        <p:spPr>
          <a:xfrm>
            <a:off x="8951327" y="3230466"/>
            <a:ext cx="2451652" cy="16004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400" dirty="0"/>
          </a:p>
          <a:p>
            <a:pPr algn="ctr"/>
            <a:r>
              <a:rPr lang="en-GB" sz="1400" dirty="0"/>
              <a:t>Figures</a:t>
            </a:r>
          </a:p>
          <a:p>
            <a:pPr algn="ctr"/>
            <a:r>
              <a:rPr lang="en-GB" sz="1400" i="1" dirty="0"/>
              <a:t>Many figures are saved as part of output, under corresponding directory of the model run  </a:t>
            </a:r>
          </a:p>
          <a:p>
            <a:pPr algn="ctr"/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034F0-B248-33D9-C211-1E1D2C5D26F8}"/>
              </a:ext>
            </a:extLst>
          </p:cNvPr>
          <p:cNvSpPr txBox="1"/>
          <p:nvPr/>
        </p:nvSpPr>
        <p:spPr>
          <a:xfrm>
            <a:off x="8951327" y="1002179"/>
            <a:ext cx="1001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DBBD5B-8F57-B8C9-C83B-D6561C74845C}"/>
              </a:ext>
            </a:extLst>
          </p:cNvPr>
          <p:cNvSpPr txBox="1"/>
          <p:nvPr/>
        </p:nvSpPr>
        <p:spPr>
          <a:xfrm>
            <a:off x="8951327" y="5108849"/>
            <a:ext cx="2451652" cy="11695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Tables</a:t>
            </a:r>
          </a:p>
          <a:p>
            <a:pPr algn="ctr"/>
            <a:r>
              <a:rPr lang="en-GB" sz="1400" dirty="0" err="1"/>
              <a:t>Results_exponential</a:t>
            </a:r>
            <a:r>
              <a:rPr lang="en-GB" sz="1400" dirty="0"/>
              <a:t>/</a:t>
            </a:r>
            <a:r>
              <a:rPr lang="en-GB" sz="1400" dirty="0" err="1"/>
              <a:t>parameter_estimates_all.csv</a:t>
            </a:r>
            <a:endParaRPr lang="en-GB" sz="1400" dirty="0"/>
          </a:p>
          <a:p>
            <a:pPr algn="ctr"/>
            <a:r>
              <a:rPr lang="en-GB" sz="1400" dirty="0" err="1"/>
              <a:t>Results_exponential</a:t>
            </a:r>
            <a:r>
              <a:rPr lang="en-GB" sz="1400" dirty="0"/>
              <a:t>/</a:t>
            </a:r>
            <a:r>
              <a:rPr lang="en-GB" sz="1400" dirty="0" err="1"/>
              <a:t>ar_estimates_all.csv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7014B-327C-6541-0836-29C6530367BF}"/>
              </a:ext>
            </a:extLst>
          </p:cNvPr>
          <p:cNvSpPr txBox="1"/>
          <p:nvPr/>
        </p:nvSpPr>
        <p:spPr>
          <a:xfrm>
            <a:off x="3889629" y="996814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49FC5B-6B0A-48A9-B700-FC9C49DB3F21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5663267" y="4263706"/>
            <a:ext cx="432733" cy="7086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D17B28-6EBA-224B-4640-A2D612151B58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5663267" y="4972396"/>
            <a:ext cx="432733" cy="7273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4619D4-CBC0-3DA4-803D-0B7FAFAED2EC}"/>
              </a:ext>
            </a:extLst>
          </p:cNvPr>
          <p:cNvCxnSpPr>
            <a:stCxn id="6" idx="3"/>
            <a:endCxn id="15" idx="1"/>
          </p:cNvCxnSpPr>
          <p:nvPr/>
        </p:nvCxnSpPr>
        <p:spPr>
          <a:xfrm flipV="1">
            <a:off x="8547652" y="2367746"/>
            <a:ext cx="403675" cy="18959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8E8625-38E6-27CC-22E2-6335733EB995}"/>
              </a:ext>
            </a:extLst>
          </p:cNvPr>
          <p:cNvCxnSpPr>
            <a:stCxn id="6" idx="3"/>
            <a:endCxn id="16" idx="1"/>
          </p:cNvCxnSpPr>
          <p:nvPr/>
        </p:nvCxnSpPr>
        <p:spPr>
          <a:xfrm flipV="1">
            <a:off x="8547652" y="4030685"/>
            <a:ext cx="403675" cy="233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CF8AFA-C583-293D-977B-E489EA04CABA}"/>
              </a:ext>
            </a:extLst>
          </p:cNvPr>
          <p:cNvCxnSpPr>
            <a:stCxn id="7" idx="3"/>
            <a:endCxn id="18" idx="1"/>
          </p:cNvCxnSpPr>
          <p:nvPr/>
        </p:nvCxnSpPr>
        <p:spPr>
          <a:xfrm flipV="1">
            <a:off x="8547652" y="5693625"/>
            <a:ext cx="403675" cy="6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B5CCEF-AB4A-8AC8-8F0D-C5443C455022}"/>
              </a:ext>
            </a:extLst>
          </p:cNvPr>
          <p:cNvCxnSpPr>
            <a:stCxn id="10" idx="3"/>
            <a:endCxn id="6" idx="0"/>
          </p:cNvCxnSpPr>
          <p:nvPr/>
        </p:nvCxnSpPr>
        <p:spPr>
          <a:xfrm>
            <a:off x="6049503" y="1935397"/>
            <a:ext cx="1272323" cy="1743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4A83A4-6266-462D-E950-DA511E4CBF31}"/>
              </a:ext>
            </a:extLst>
          </p:cNvPr>
          <p:cNvCxnSpPr>
            <a:stCxn id="11" idx="3"/>
            <a:endCxn id="6" idx="0"/>
          </p:cNvCxnSpPr>
          <p:nvPr/>
        </p:nvCxnSpPr>
        <p:spPr>
          <a:xfrm>
            <a:off x="6049503" y="2990672"/>
            <a:ext cx="1272323" cy="688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72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184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Kathleen OReilly</dc:creator>
  <cp:lastModifiedBy>Kathleen OReilly</cp:lastModifiedBy>
  <cp:revision>1</cp:revision>
  <dcterms:created xsi:type="dcterms:W3CDTF">2026-03-10T15:48:25Z</dcterms:created>
  <dcterms:modified xsi:type="dcterms:W3CDTF">2026-03-10T16:15:39Z</dcterms:modified>
</cp:coreProperties>
</file>